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3" r:id="rId3"/>
    <p:sldId id="256" r:id="rId4"/>
    <p:sldId id="257" r:id="rId5"/>
    <p:sldId id="258" r:id="rId6"/>
    <p:sldId id="259" r:id="rId7"/>
    <p:sldId id="260" r:id="rId8"/>
    <p:sldId id="261" r:id="rId9"/>
    <p:sldId id="262" r:id="rId10"/>
    <p:sldId id="263" r:id="rId11"/>
    <p:sldId id="264" r:id="rId12"/>
    <p:sldId id="274" r:id="rId13"/>
    <p:sldId id="265" r:id="rId14"/>
    <p:sldId id="266" r:id="rId15"/>
    <p:sldId id="269" r:id="rId16"/>
    <p:sldId id="267" r:id="rId17"/>
    <p:sldId id="26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9" name="Date Placeholder 8"/>
          <p:cNvSpPr>
            <a:spLocks noGrp="1"/>
          </p:cNvSpPr>
          <p:nvPr>
            <p:ph type="dt" sz="half" idx="10"/>
          </p:nvPr>
        </p:nvSpPr>
        <p:spPr/>
        <p:txBody>
          <a:bodyPr/>
          <a:lstStyle/>
          <a:p>
            <a:fld id="{5BCAD085-E8A6-8845-BD4E-CB4CCA059FC4}" type="datetimeFigureOut">
              <a:rPr lang="en-US" smtClean="0"/>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xEl>
                                              <p:charRg st="4294967295" end="4294967295"/>
                                            </p:txEl>
                                          </p:spTgt>
                                        </p:tgtEl>
                                        <p:attrNameLst>
                                          <p:attrName>style.visibility</p:attrName>
                                        </p:attrNameLst>
                                      </p:cBhvr>
                                      <p:to>
                                        <p:strVal val="visible"/>
                                      </p:to>
                                    </p:set>
                                    <p:anim calcmode="lin" valueType="num">
                                      <p:cBhvr>
                                        <p:cTn id="7" dur="1000" fill="hold"/>
                                        <p:tgtEl>
                                          <p:spTgt spid="2">
                                            <p:txEl>
                                              <p:charRg st="4294967295" end="4294967295"/>
                                            </p:txEl>
                                          </p:spTgt>
                                        </p:tgtEl>
                                        <p:attrNameLst>
                                          <p:attrName>ppt_x</p:attrName>
                                        </p:attrNameLst>
                                      </p:cBhvr>
                                      <p:tavLst>
                                        <p:tav tm="0">
                                          <p:val>
                                            <p:strVal val="#ppt_x-.2"/>
                                          </p:val>
                                        </p:tav>
                                        <p:tav tm="100000">
                                          <p:val>
                                            <p:strVal val="#ppt_x"/>
                                          </p:val>
                                        </p:tav>
                                      </p:tavLst>
                                    </p:anim>
                                    <p:anim calcmode="lin" valueType="num">
                                      <p:cBhvr>
                                        <p:cTn id="8" dur="1000" fill="hold"/>
                                        <p:tgtEl>
                                          <p:spTgt spid="2">
                                            <p:txEl>
                                              <p:charRg st="4294967295" end="4294967295"/>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p:bldLst>
  </p:timing>
  <p:hf sldNum="0" hdr="0" ftr="0" dt="0"/>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395" y="2103438"/>
            <a:ext cx="7269480" cy="1325562"/>
          </a:xfrm>
        </p:spPr>
        <p:txBody>
          <a:bodyPr>
            <a:normAutofit/>
          </a:bodyPr>
          <a:lstStyle/>
          <a:p>
            <a:r>
              <a:rPr lang="en-IN" sz="3200" dirty="0"/>
              <a:t>REAL-TIME RESEARCH PROJECT</a:t>
            </a:r>
            <a:endParaRPr lang="en-I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t>Title :</a:t>
            </a:r>
            <a:endParaRPr sz="2800" b="1" dirty="0"/>
          </a:p>
        </p:txBody>
      </p:sp>
      <p:sp>
        <p:nvSpPr>
          <p:cNvPr id="3" name="Content Placeholder 2"/>
          <p:cNvSpPr>
            <a:spLocks noGrp="1"/>
          </p:cNvSpPr>
          <p:nvPr>
            <p:ph idx="1"/>
          </p:nvPr>
        </p:nvSpPr>
        <p:spPr>
          <a:xfrm>
            <a:off x="747395" y="2968256"/>
            <a:ext cx="7269480" cy="922020"/>
          </a:xfrm>
        </p:spPr>
        <p:txBody>
          <a:bodyPr/>
          <a:lstStyle/>
          <a:p>
            <a:pPr marL="0" indent="0">
              <a:buNone/>
            </a:pPr>
            <a:r>
              <a:rPr sz="2400" dirty="0"/>
              <a:t>IoT Based Occupancy Monitoring Techniques for Energy Efficien</a:t>
            </a:r>
            <a:r>
              <a:rPr lang="en-US" sz="2400" dirty="0"/>
              <a:t>t</a:t>
            </a:r>
            <a:r>
              <a:rPr sz="2400" dirty="0"/>
              <a:t> Smart Buildings</a:t>
            </a:r>
            <a:endParaRPr lang="en-IN" sz="2400" dirty="0"/>
          </a:p>
        </p:txBody>
      </p:sp>
      <p:sp>
        <p:nvSpPr>
          <p:cNvPr id="4" name="Text Box 3"/>
          <p:cNvSpPr txBox="1"/>
          <p:nvPr/>
        </p:nvSpPr>
        <p:spPr>
          <a:xfrm>
            <a:off x="6096000" y="4602480"/>
            <a:ext cx="2271252" cy="1476375"/>
          </a:xfrm>
          <a:prstGeom prst="rect">
            <a:avLst/>
          </a:prstGeom>
          <a:noFill/>
        </p:spPr>
        <p:txBody>
          <a:bodyPr wrap="square" rtlCol="0">
            <a:spAutoFit/>
          </a:bodyPr>
          <a:lstStyle/>
          <a:p>
            <a:pPr marL="0" indent="0">
              <a:buNone/>
            </a:pPr>
            <a:r>
              <a:rPr b="1" dirty="0">
                <a:sym typeface="+mn-ea"/>
              </a:rPr>
              <a:t>PRESENTED BY:</a:t>
            </a:r>
            <a:endParaRPr b="1" dirty="0"/>
          </a:p>
          <a:p>
            <a:pPr marL="0" indent="0">
              <a:buNone/>
            </a:pPr>
            <a:r>
              <a:rPr dirty="0">
                <a:sym typeface="+mn-ea"/>
              </a:rPr>
              <a:t>BATCH-</a:t>
            </a:r>
            <a:r>
              <a:rPr lang="en-IN" dirty="0">
                <a:sym typeface="+mn-ea"/>
              </a:rPr>
              <a:t>7</a:t>
            </a:r>
            <a:br>
              <a:rPr lang="en-IN" dirty="0">
                <a:sym typeface="+mn-ea"/>
              </a:rPr>
            </a:br>
            <a:r>
              <a:rPr lang="en-IN" altLang="en-US" dirty="0"/>
              <a:t>K.SANTHOSHI</a:t>
            </a:r>
            <a:endParaRPr lang="en-IN" altLang="en-US" dirty="0"/>
          </a:p>
          <a:p>
            <a:pPr marL="0" indent="0">
              <a:buNone/>
            </a:pPr>
            <a:r>
              <a:rPr lang="en-IN" altLang="en-US" dirty="0"/>
              <a:t>P.KRANTHESH</a:t>
            </a:r>
            <a:endParaRPr lang="en-IN" altLang="en-US" dirty="0"/>
          </a:p>
          <a:p>
            <a:pPr marL="0" indent="0">
              <a:buNone/>
            </a:pPr>
            <a:r>
              <a:rPr lang="en-IN" altLang="en-US" dirty="0"/>
              <a:t>M.ANAS</a:t>
            </a:r>
            <a:endParaRPr lang="en-IN" altLang="en-US" dirty="0"/>
          </a:p>
        </p:txBody>
      </p:sp>
      <p:sp>
        <p:nvSpPr>
          <p:cNvPr id="6" name="Text Box 5"/>
          <p:cNvSpPr txBox="1"/>
          <p:nvPr/>
        </p:nvSpPr>
        <p:spPr>
          <a:xfrm>
            <a:off x="526415" y="4602480"/>
            <a:ext cx="3048000" cy="645160"/>
          </a:xfrm>
          <a:prstGeom prst="rect">
            <a:avLst/>
          </a:prstGeom>
          <a:noFill/>
        </p:spPr>
        <p:txBody>
          <a:bodyPr wrap="square" rtlCol="0">
            <a:spAutoFit/>
          </a:bodyPr>
          <a:p>
            <a:r>
              <a:rPr lang="en-IN" altLang="en-US" b="1"/>
              <a:t>GUIDE:</a:t>
            </a:r>
            <a:endParaRPr lang="en-IN" altLang="en-US" b="1"/>
          </a:p>
          <a:p>
            <a:r>
              <a:rPr lang="en-IN" altLang="en-US"/>
              <a:t>M.MADHUSUDHAN</a:t>
            </a:r>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dirty="0"/>
              <a:t>INTRODUCTION</a:t>
            </a:r>
            <a:endParaRPr sz="2800" dirty="0"/>
          </a:p>
        </p:txBody>
      </p:sp>
      <p:sp>
        <p:nvSpPr>
          <p:cNvPr id="3" name="Content Placeholder 2"/>
          <p:cNvSpPr>
            <a:spLocks noGrp="1"/>
          </p:cNvSpPr>
          <p:nvPr>
            <p:ph idx="1"/>
          </p:nvPr>
        </p:nvSpPr>
        <p:spPr>
          <a:xfrm>
            <a:off x="457200" y="2701188"/>
            <a:ext cx="7503795" cy="2871470"/>
          </a:xfrm>
        </p:spPr>
        <p:style>
          <a:lnRef idx="2">
            <a:schemeClr val="accent1"/>
          </a:lnRef>
          <a:fillRef idx="0">
            <a:srgbClr val="FFFFFF"/>
          </a:fillRef>
          <a:effectRef idx="0">
            <a:srgbClr val="FFFFFF"/>
          </a:effectRef>
          <a:fontRef idx="minor">
            <a:schemeClr val="tx1"/>
          </a:fontRef>
        </p:style>
        <p:txBody>
          <a:bodyPr/>
          <a:lstStyle/>
          <a:p>
            <a:r>
              <a:rPr sz="2000" dirty="0"/>
              <a:t>Smart buildings aim to optimize energy usage and improve comfort using advanced technologies. IoT-based occupancy monitoring systems detect the presence of people in rooms or buildings using sensors such as PIR sensors, cameras, Wi-Fi tracking, and CO2 sensors. These systems help automate lighting, HVAC, and other building systems to reduce unnecessary energy consumption and improve efficiency.</a:t>
            </a:r>
            <a:endParaRPr sz="2000" dirty="0"/>
          </a:p>
        </p:txBody>
      </p:sp>
      <p:sp>
        <p:nvSpPr>
          <p:cNvPr id="5" name="Text Box 4"/>
          <p:cNvSpPr txBox="1"/>
          <p:nvPr/>
        </p:nvSpPr>
        <p:spPr>
          <a:xfrm>
            <a:off x="6805295" y="799465"/>
            <a:ext cx="3048000" cy="368300"/>
          </a:xfrm>
          <a:prstGeom prst="rect">
            <a:avLst/>
          </a:prstGeom>
          <a:noFill/>
        </p:spPr>
        <p:txBody>
          <a:bodyPr wrap="squar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EXISTING SYSTEM</a:t>
            </a:r>
            <a:endParaRPr sz="2800"/>
          </a:p>
        </p:txBody>
      </p:sp>
      <p:sp>
        <p:nvSpPr>
          <p:cNvPr id="3" name="Content Placeholder 2"/>
          <p:cNvSpPr>
            <a:spLocks noGrp="1"/>
          </p:cNvSpPr>
          <p:nvPr>
            <p:ph idx="1"/>
          </p:nvPr>
        </p:nvSpPr>
        <p:spPr>
          <a:xfrm>
            <a:off x="457200" y="2777100"/>
            <a:ext cx="6860540" cy="2734310"/>
          </a:xfrm>
        </p:spPr>
        <p:txBody>
          <a:bodyPr/>
          <a:lstStyle/>
          <a:p>
            <a:r>
              <a:rPr sz="2000" dirty="0"/>
              <a:t>Traditional energy management systems rely on manual switching or fixed schedules for lighting and HVAC. These systems do not consider real-time occupancy and often lead to energy wastage when rooms are empty. They also lack automation, scalability, and intelligent monitoring capabilities.</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689389"/>
            <a:ext cx="5937755" cy="1188720"/>
          </a:xfrm>
        </p:spPr>
        <p:txBody>
          <a:bodyPr/>
          <a:lstStyle/>
          <a:p>
            <a:r>
              <a:rPr sz="2400"/>
              <a:t>PROBLEMS IN EXISTING SYSTEM</a:t>
            </a:r>
            <a:endParaRPr sz="2400"/>
          </a:p>
        </p:txBody>
      </p:sp>
      <p:sp>
        <p:nvSpPr>
          <p:cNvPr id="3" name="Content Placeholder 2"/>
          <p:cNvSpPr>
            <a:spLocks noGrp="1"/>
          </p:cNvSpPr>
          <p:nvPr>
            <p:ph idx="1"/>
          </p:nvPr>
        </p:nvSpPr>
        <p:spPr>
          <a:xfrm>
            <a:off x="689610" y="2127885"/>
            <a:ext cx="7386955" cy="2134870"/>
          </a:xfrm>
        </p:spPr>
        <p:txBody>
          <a:bodyPr>
            <a:normAutofit/>
          </a:bodyPr>
          <a:lstStyle/>
          <a:p>
            <a:pPr marL="0" indent="0">
              <a:buNone/>
            </a:pPr>
            <a:r>
              <a:rPr sz="2000"/>
              <a:t>• High energy consumption due to lack of occupancy awareness.</a:t>
            </a:r>
            <a:endParaRPr sz="2000"/>
          </a:p>
          <a:p>
            <a:pPr marL="0" indent="0">
              <a:buNone/>
            </a:pPr>
            <a:r>
              <a:rPr sz="2000"/>
              <a:t>• Manual control of lighting and appliances.</a:t>
            </a:r>
            <a:endParaRPr sz="2000"/>
          </a:p>
          <a:p>
            <a:pPr marL="0" indent="0">
              <a:buNone/>
            </a:pPr>
            <a:r>
              <a:rPr sz="2000"/>
              <a:t>• Inefficient HVAC operation.</a:t>
            </a:r>
            <a:endParaRPr sz="2000"/>
          </a:p>
          <a:p>
            <a:pPr marL="0" indent="0">
              <a:buNone/>
            </a:pPr>
            <a:r>
              <a:rPr sz="2000"/>
              <a:t>• Lack of real-time monitoring and data analytics.</a:t>
            </a:r>
            <a:endParaRPr sz="2000"/>
          </a:p>
          <a:p>
            <a:pPr marL="0" indent="0">
              <a:buNone/>
            </a:pPr>
            <a:r>
              <a:rPr sz="2000"/>
              <a:t>• Increased operational costs in buildings.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768047"/>
            <a:ext cx="5937755" cy="1188720"/>
          </a:xfrm>
        </p:spPr>
        <p:txBody>
          <a:bodyPr/>
          <a:lstStyle/>
          <a:p>
            <a:r>
              <a:rPr sz="2800"/>
              <a:t>PROPOSED SYSTEM</a:t>
            </a:r>
            <a:endParaRPr sz="2800"/>
          </a:p>
        </p:txBody>
      </p:sp>
      <p:sp>
        <p:nvSpPr>
          <p:cNvPr id="3" name="Content Placeholder 2"/>
          <p:cNvSpPr>
            <a:spLocks noGrp="1"/>
          </p:cNvSpPr>
          <p:nvPr>
            <p:ph idx="1"/>
          </p:nvPr>
        </p:nvSpPr>
        <p:spPr>
          <a:xfrm>
            <a:off x="457200" y="2242820"/>
            <a:ext cx="7640320" cy="2630170"/>
          </a:xfrm>
        </p:spPr>
        <p:txBody>
          <a:bodyPr/>
          <a:lstStyle/>
          <a:p>
            <a:r>
              <a:rPr sz="2000" dirty="0"/>
              <a:t>The proposed system uses IoT sensors to monitor occupancy in real time. Sensors collect data about human presence and send it to a central IoT platform or cloud server. Based on the occupancy data, the system automatically controls lighting, ventilation, and air conditioning systems to optimize energy usage. Data analytics helps building managers understand usage patterns and improve efficiency.</a:t>
            </a: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536" y="758214"/>
            <a:ext cx="5937755" cy="1188720"/>
          </a:xfrm>
        </p:spPr>
        <p:txBody>
          <a:bodyPr/>
          <a:lstStyle/>
          <a:p>
            <a:r>
              <a:rPr sz="2800"/>
              <a:t>ADVANTAGES</a:t>
            </a:r>
            <a:endParaRPr sz="2800"/>
          </a:p>
        </p:txBody>
      </p:sp>
      <p:sp>
        <p:nvSpPr>
          <p:cNvPr id="3" name="Content Placeholder 2"/>
          <p:cNvSpPr>
            <a:spLocks noGrp="1"/>
          </p:cNvSpPr>
          <p:nvPr>
            <p:ph idx="1"/>
          </p:nvPr>
        </p:nvSpPr>
        <p:spPr>
          <a:xfrm>
            <a:off x="457200" y="2274570"/>
            <a:ext cx="8229600" cy="2377440"/>
          </a:xfrm>
        </p:spPr>
        <p:txBody>
          <a:bodyPr>
            <a:normAutofit/>
          </a:bodyPr>
          <a:lstStyle/>
          <a:p>
            <a:pPr marL="0" indent="0">
              <a:buNone/>
            </a:pPr>
            <a:r>
              <a:rPr sz="2000"/>
              <a:t>• Reduces energy consumption significantly.</a:t>
            </a:r>
            <a:endParaRPr sz="2000"/>
          </a:p>
          <a:p>
            <a:pPr marL="0" indent="0">
              <a:buNone/>
            </a:pPr>
            <a:r>
              <a:rPr sz="2000"/>
              <a:t>• Automatic control of lighting and HVAC systems.</a:t>
            </a:r>
            <a:endParaRPr sz="2000"/>
          </a:p>
          <a:p>
            <a:pPr marL="0" indent="0">
              <a:buNone/>
            </a:pPr>
            <a:r>
              <a:rPr sz="2000"/>
              <a:t>• Real-time monitoring of room occupancy.</a:t>
            </a:r>
            <a:endParaRPr sz="2000"/>
          </a:p>
          <a:p>
            <a:pPr marL="0" indent="0">
              <a:buNone/>
            </a:pPr>
            <a:r>
              <a:rPr sz="2000"/>
              <a:t>• Improves comfort and convenience for occupants.</a:t>
            </a:r>
            <a:endParaRPr sz="2000"/>
          </a:p>
          <a:p>
            <a:pPr marL="0" indent="0">
              <a:buNone/>
            </a:pPr>
            <a:r>
              <a:rPr sz="2000"/>
              <a:t>• Supports smart building automation.</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387"/>
            <a:ext cx="8229600" cy="970515"/>
          </a:xfrm>
        </p:spPr>
        <p:txBody>
          <a:bodyPr/>
          <a:lstStyle/>
          <a:p>
            <a:r>
              <a:rPr sz="3200"/>
              <a:t>SYSTEM REQUIREMENTS</a:t>
            </a:r>
            <a:endParaRPr sz="3200"/>
          </a:p>
        </p:txBody>
      </p:sp>
      <p:sp>
        <p:nvSpPr>
          <p:cNvPr id="3" name="Content Placeholder 2"/>
          <p:cNvSpPr>
            <a:spLocks noGrp="1"/>
          </p:cNvSpPr>
          <p:nvPr>
            <p:ph idx="1"/>
          </p:nvPr>
        </p:nvSpPr>
        <p:spPr>
          <a:xfrm>
            <a:off x="929005" y="1604645"/>
            <a:ext cx="5991860" cy="4410710"/>
          </a:xfrm>
        </p:spPr>
        <p:txBody>
          <a:bodyPr>
            <a:normAutofit fontScale="67500" lnSpcReduction="20000"/>
          </a:bodyPr>
          <a:lstStyle/>
          <a:p>
            <a:pPr marL="0" indent="0">
              <a:buNone/>
            </a:pPr>
            <a:r>
              <a:rPr sz="2855" b="1" dirty="0"/>
              <a:t>HARDWARE REQUIREMENTS:</a:t>
            </a:r>
            <a:endParaRPr sz="2855" b="1" dirty="0"/>
          </a:p>
          <a:p>
            <a:pPr marL="0" indent="0">
              <a:buNone/>
            </a:pPr>
            <a:r>
              <a:rPr sz="2855" dirty="0"/>
              <a:t>• System: Pentium Dual Core or above</a:t>
            </a:r>
            <a:endParaRPr sz="2855" dirty="0"/>
          </a:p>
          <a:p>
            <a:pPr marL="0" indent="0">
              <a:buNone/>
            </a:pPr>
            <a:r>
              <a:rPr sz="2855" dirty="0"/>
              <a:t>• Sensors: PIR Sensor / Camera / Temperature Sensor</a:t>
            </a:r>
            <a:endParaRPr sz="2855" dirty="0"/>
          </a:p>
          <a:p>
            <a:pPr marL="0" indent="0">
              <a:buNone/>
            </a:pPr>
            <a:r>
              <a:rPr sz="2855" dirty="0"/>
              <a:t>• Microcontroller: Arduino / Raspberry Pi</a:t>
            </a:r>
            <a:endParaRPr sz="2855" dirty="0"/>
          </a:p>
          <a:p>
            <a:pPr marL="0" indent="0">
              <a:buNone/>
            </a:pPr>
            <a:r>
              <a:rPr sz="2855" dirty="0"/>
              <a:t>• RAM: 2 GB or above</a:t>
            </a:r>
            <a:endParaRPr sz="2855" dirty="0"/>
          </a:p>
          <a:p>
            <a:pPr marL="0" indent="0">
              <a:buNone/>
            </a:pPr>
            <a:r>
              <a:rPr sz="2855" dirty="0"/>
              <a:t>• Internet Connectivity</a:t>
            </a:r>
            <a:endParaRPr sz="2855" dirty="0"/>
          </a:p>
          <a:p>
            <a:endParaRPr sz="2855" dirty="0"/>
          </a:p>
          <a:p>
            <a:pPr marL="0" indent="0">
              <a:buNone/>
            </a:pPr>
            <a:r>
              <a:rPr sz="2855" b="1" dirty="0"/>
              <a:t>SOFTWARE REQUIREMENTS:</a:t>
            </a:r>
            <a:endParaRPr sz="2855" b="1" dirty="0"/>
          </a:p>
          <a:p>
            <a:pPr marL="0" indent="0">
              <a:buNone/>
            </a:pPr>
            <a:r>
              <a:rPr sz="2855" dirty="0"/>
              <a:t>• Operating System: Windows 10/11</a:t>
            </a:r>
            <a:endParaRPr sz="2855" dirty="0"/>
          </a:p>
          <a:p>
            <a:pPr marL="0" indent="0">
              <a:buNone/>
            </a:pPr>
            <a:r>
              <a:rPr sz="2855" dirty="0"/>
              <a:t>• Programming Language: Python</a:t>
            </a:r>
            <a:endParaRPr sz="2855" dirty="0"/>
          </a:p>
          <a:p>
            <a:pPr marL="0" indent="0">
              <a:buNone/>
            </a:pPr>
            <a:r>
              <a:rPr sz="2855" dirty="0"/>
              <a:t>• Tools: Arduino IDE / VS Code</a:t>
            </a:r>
            <a:endParaRPr sz="2855" dirty="0"/>
          </a:p>
          <a:p>
            <a:pPr marL="0" indent="0">
              <a:buNone/>
            </a:pPr>
            <a:r>
              <a:rPr sz="2855" dirty="0"/>
              <a:t>• Cloud Platform: IoT Cloud / Firebase</a:t>
            </a:r>
            <a:endParaRPr sz="285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561569"/>
            <a:ext cx="5937755" cy="1188720"/>
          </a:xfrm>
        </p:spPr>
        <p:txBody>
          <a:bodyPr/>
          <a:lstStyle/>
          <a:p>
            <a:r>
              <a:rPr sz="3200"/>
              <a:t>NOVELTY OF THE PROJECT</a:t>
            </a:r>
            <a:endParaRPr sz="3200"/>
          </a:p>
        </p:txBody>
      </p:sp>
      <p:sp>
        <p:nvSpPr>
          <p:cNvPr id="3" name="Content Placeholder 2"/>
          <p:cNvSpPr>
            <a:spLocks noGrp="1"/>
          </p:cNvSpPr>
          <p:nvPr>
            <p:ph idx="1"/>
          </p:nvPr>
        </p:nvSpPr>
        <p:spPr>
          <a:xfrm>
            <a:off x="562610" y="2095500"/>
            <a:ext cx="8229600" cy="2809240"/>
          </a:xfrm>
        </p:spPr>
        <p:txBody>
          <a:bodyPr>
            <a:normAutofit/>
          </a:bodyPr>
          <a:lstStyle/>
          <a:p>
            <a:pPr marL="0" indent="0">
              <a:buNone/>
            </a:pPr>
            <a:r>
              <a:rPr sz="2400"/>
              <a:t>• Integrates IoT sensors for accurate occupancy detection.</a:t>
            </a:r>
            <a:endParaRPr sz="2400"/>
          </a:p>
          <a:p>
            <a:pPr marL="0" indent="0">
              <a:buNone/>
            </a:pPr>
            <a:r>
              <a:rPr sz="2400"/>
              <a:t>• Uses real-time data to control energy systems.</a:t>
            </a:r>
            <a:endParaRPr sz="2400"/>
          </a:p>
          <a:p>
            <a:pPr marL="0" indent="0">
              <a:buNone/>
            </a:pPr>
            <a:r>
              <a:rPr sz="2400"/>
              <a:t>• Enables smart automation in buildings.</a:t>
            </a:r>
            <a:endParaRPr sz="2400"/>
          </a:p>
          <a:p>
            <a:pPr marL="0" indent="0">
              <a:buNone/>
            </a:pPr>
            <a:r>
              <a:rPr sz="2400"/>
              <a:t>• Provides analytics for energy optimization.</a:t>
            </a:r>
            <a:endParaRPr sz="2400"/>
          </a:p>
          <a:p>
            <a:pPr marL="0" indent="0">
              <a:buNone/>
            </a:pPr>
            <a:r>
              <a:rPr sz="2400"/>
              <a:t>• Reduces carbon footprint and operational costs.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480" y="502468"/>
            <a:ext cx="5937755" cy="1188720"/>
          </a:xfrm>
        </p:spPr>
        <p:txBody>
          <a:bodyPr/>
          <a:lstStyle/>
          <a:p>
            <a:r>
              <a:rPr sz="2800"/>
              <a:t>SYSTEM ARCHITECTURE</a:t>
            </a:r>
            <a:endParaRPr sz="2800"/>
          </a:p>
        </p:txBody>
      </p:sp>
      <p:sp>
        <p:nvSpPr>
          <p:cNvPr id="3" name="Content Placeholder 2"/>
          <p:cNvSpPr>
            <a:spLocks noGrp="1"/>
          </p:cNvSpPr>
          <p:nvPr>
            <p:ph idx="1"/>
          </p:nvPr>
        </p:nvSpPr>
        <p:spPr>
          <a:xfrm>
            <a:off x="457200" y="1852930"/>
            <a:ext cx="8229600" cy="3557905"/>
          </a:xfrm>
        </p:spPr>
        <p:txBody>
          <a:bodyPr>
            <a:normAutofit/>
          </a:bodyPr>
          <a:lstStyle/>
          <a:p>
            <a:pPr marL="0" indent="0">
              <a:buNone/>
            </a:pPr>
            <a:r>
              <a:rPr sz="2400" b="1"/>
              <a:t>Steps:</a:t>
            </a:r>
            <a:endParaRPr sz="2400" b="1"/>
          </a:p>
          <a:p>
            <a:pPr marL="0" indent="0">
              <a:buNone/>
            </a:pPr>
            <a:r>
              <a:rPr sz="2400"/>
              <a:t>1. Occupancy Detection using Sensors</a:t>
            </a:r>
            <a:endParaRPr sz="2400"/>
          </a:p>
          <a:p>
            <a:pPr marL="0" indent="0">
              <a:buNone/>
            </a:pPr>
            <a:r>
              <a:rPr sz="2400"/>
              <a:t>2. Data Collection by IoT Devices</a:t>
            </a:r>
            <a:endParaRPr sz="2400"/>
          </a:p>
          <a:p>
            <a:pPr marL="0" indent="0">
              <a:buNone/>
            </a:pPr>
            <a:r>
              <a:rPr sz="2400"/>
              <a:t>3. Data Transmission to Cloud Server</a:t>
            </a:r>
            <a:endParaRPr sz="2400"/>
          </a:p>
          <a:p>
            <a:pPr marL="0" indent="0">
              <a:buNone/>
            </a:pPr>
            <a:r>
              <a:rPr sz="2400"/>
              <a:t>4. Data Processing and Decision Making</a:t>
            </a:r>
            <a:endParaRPr sz="2400"/>
          </a:p>
          <a:p>
            <a:pPr marL="0" indent="0">
              <a:buNone/>
            </a:pPr>
            <a:r>
              <a:rPr sz="2400"/>
              <a:t>5. Automatic Control of Lights and HVAC</a:t>
            </a:r>
            <a:endParaRPr sz="2400"/>
          </a:p>
          <a:p>
            <a:pPr marL="0" indent="0">
              <a:buNone/>
            </a:pPr>
            <a:r>
              <a:rPr sz="2400"/>
              <a:t>6. Energy Usage Monitoring Dashboard</a:t>
            </a:r>
            <a:endParaRPr sz="2400"/>
          </a:p>
        </p:txBody>
      </p:sp>
      <p:sp>
        <p:nvSpPr>
          <p:cNvPr id="4" name="Text Box 3"/>
          <p:cNvSpPr txBox="1"/>
          <p:nvPr/>
        </p:nvSpPr>
        <p:spPr>
          <a:xfrm>
            <a:off x="10587355" y="5203190"/>
            <a:ext cx="3048000" cy="368300"/>
          </a:xfrm>
          <a:prstGeom prst="rect">
            <a:avLst/>
          </a:prstGeom>
          <a:noFill/>
        </p:spPr>
        <p:txBody>
          <a:bodyPr wrap="square" rtlCol="0">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22605" y="860425"/>
            <a:ext cx="8098790" cy="46818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787860"/>
            <a:ext cx="5937755" cy="1188720"/>
          </a:xfrm>
        </p:spPr>
        <p:txBody>
          <a:bodyPr/>
          <a:lstStyle/>
          <a:p>
            <a:r>
              <a:rPr sz="3600"/>
              <a:t>MODULES</a:t>
            </a:r>
            <a:endParaRPr sz="3600"/>
          </a:p>
        </p:txBody>
      </p:sp>
      <p:sp>
        <p:nvSpPr>
          <p:cNvPr id="3" name="Content Placeholder 2"/>
          <p:cNvSpPr>
            <a:spLocks noGrp="1"/>
          </p:cNvSpPr>
          <p:nvPr>
            <p:ph idx="1"/>
          </p:nvPr>
        </p:nvSpPr>
        <p:spPr>
          <a:xfrm>
            <a:off x="457200" y="2221865"/>
            <a:ext cx="8229600" cy="2788920"/>
          </a:xfrm>
        </p:spPr>
        <p:txBody>
          <a:bodyPr/>
          <a:lstStyle/>
          <a:p>
            <a:pPr marL="0" indent="0">
              <a:buNone/>
            </a:pPr>
            <a:r>
              <a:rPr sz="2400"/>
              <a:t>1. Sensor Module</a:t>
            </a:r>
            <a:endParaRPr sz="2400"/>
          </a:p>
          <a:p>
            <a:pPr marL="0" indent="0">
              <a:buNone/>
            </a:pPr>
            <a:r>
              <a:rPr sz="2400"/>
              <a:t>2. Data Collection Module</a:t>
            </a:r>
            <a:endParaRPr sz="2400"/>
          </a:p>
          <a:p>
            <a:pPr marL="0" indent="0">
              <a:buNone/>
            </a:pPr>
            <a:r>
              <a:rPr sz="2400"/>
              <a:t>3. IoT Communication Module</a:t>
            </a:r>
            <a:endParaRPr sz="2400"/>
          </a:p>
          <a:p>
            <a:pPr marL="0" indent="0">
              <a:buNone/>
            </a:pPr>
            <a:r>
              <a:rPr sz="2400"/>
              <a:t>4. Data Processing Module</a:t>
            </a:r>
            <a:endParaRPr sz="2400"/>
          </a:p>
          <a:p>
            <a:pPr marL="0" indent="0">
              <a:buNone/>
            </a:pPr>
            <a:r>
              <a:rPr sz="2400"/>
              <a:t>5. Energy Control Module</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170872"/>
            <a:ext cx="5937755" cy="1188720"/>
          </a:xfrm>
        </p:spPr>
        <p:txBody>
          <a:bodyPr/>
          <a:lstStyle/>
          <a:p>
            <a:r>
              <a:rPr sz="3600" dirty="0"/>
              <a:t>UML DIAGRAM</a:t>
            </a:r>
            <a:endParaRPr sz="3600" dirty="0"/>
          </a:p>
        </p:txBody>
      </p:sp>
      <p:sp>
        <p:nvSpPr>
          <p:cNvPr id="3" name="Content Placeholder 2"/>
          <p:cNvSpPr>
            <a:spLocks noGrp="1"/>
          </p:cNvSpPr>
          <p:nvPr>
            <p:ph idx="1"/>
          </p:nvPr>
        </p:nvSpPr>
        <p:spPr>
          <a:xfrm>
            <a:off x="457200" y="1811768"/>
            <a:ext cx="7450853" cy="3656330"/>
          </a:xfrm>
        </p:spPr>
        <p:txBody>
          <a:bodyPr>
            <a:normAutofit lnSpcReduction="10000"/>
          </a:bodyPr>
          <a:lstStyle/>
          <a:p>
            <a:pPr marL="0" indent="0">
              <a:buNone/>
            </a:pPr>
            <a:r>
              <a:rPr sz="2400" dirty="0"/>
              <a:t>Unified Modeling Language (UML) diagrams visually represent the system design and functionality.</a:t>
            </a:r>
            <a:endParaRPr sz="2400" dirty="0"/>
          </a:p>
          <a:p>
            <a:endParaRPr sz="2400" dirty="0"/>
          </a:p>
          <a:p>
            <a:pPr marL="0" indent="0">
              <a:buNone/>
            </a:pPr>
            <a:r>
              <a:rPr sz="2400" b="1" dirty="0"/>
              <a:t>Includes</a:t>
            </a:r>
            <a:r>
              <a:rPr sz="2400" dirty="0"/>
              <a:t>:</a:t>
            </a:r>
            <a:endParaRPr sz="2400" dirty="0"/>
          </a:p>
          <a:p>
            <a:pPr marL="0" indent="0">
              <a:buNone/>
            </a:pPr>
            <a:r>
              <a:rPr sz="2400" dirty="0"/>
              <a:t>• Case Diagram</a:t>
            </a:r>
            <a:endParaRPr sz="2400" dirty="0"/>
          </a:p>
          <a:p>
            <a:pPr marL="0" indent="0">
              <a:buNone/>
            </a:pPr>
            <a:r>
              <a:rPr sz="2400" dirty="0"/>
              <a:t>• Class Diagram</a:t>
            </a:r>
            <a:endParaRPr sz="2400" dirty="0"/>
          </a:p>
          <a:p>
            <a:pPr marL="0" indent="0">
              <a:buNone/>
            </a:pPr>
            <a:r>
              <a:rPr sz="2400" dirty="0"/>
              <a:t>• Sequence Diagram</a:t>
            </a:r>
            <a:endParaRPr sz="2400" dirty="0"/>
          </a:p>
          <a:p>
            <a:pPr marL="0" indent="0">
              <a:buNone/>
            </a:pPr>
            <a:r>
              <a:rPr sz="2400" dirty="0"/>
              <a:t>• Activity Diagram</a:t>
            </a:r>
            <a:endParaRPr sz="2400" dirty="0"/>
          </a:p>
        </p:txBody>
      </p:sp>
      <p:sp>
        <p:nvSpPr>
          <p:cNvPr id="5" name="Text Box 4"/>
          <p:cNvSpPr txBox="1"/>
          <p:nvPr/>
        </p:nvSpPr>
        <p:spPr>
          <a:xfrm>
            <a:off x="10006330" y="3549015"/>
            <a:ext cx="3048000" cy="368300"/>
          </a:xfrm>
          <a:prstGeom prst="rect">
            <a:avLst/>
          </a:prstGeom>
          <a:noFill/>
        </p:spPr>
        <p:txBody>
          <a:bodyPr wrap="square" rtlCol="0">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999" y="277432"/>
            <a:ext cx="5937755" cy="1188720"/>
          </a:xfrm>
        </p:spPr>
        <p:txBody>
          <a:bodyPr/>
          <a:lstStyle/>
          <a:p>
            <a:r>
              <a:rPr lang="en-IN" sz="2800" dirty="0"/>
              <a:t>UML DIAGRAM</a:t>
            </a:r>
            <a:endParaRPr lang="en-US" dirty="0"/>
          </a:p>
        </p:txBody>
      </p:sp>
      <p:pic>
        <p:nvPicPr>
          <p:cNvPr id="5" name="Content Placeholder 4"/>
          <p:cNvPicPr>
            <a:picLocks noGrp="1" noChangeAspect="1"/>
          </p:cNvPicPr>
          <p:nvPr>
            <p:ph idx="1"/>
          </p:nvPr>
        </p:nvPicPr>
        <p:blipFill>
          <a:blip r:embed="rId1"/>
          <a:stretch>
            <a:fillRect/>
          </a:stretch>
        </p:blipFill>
        <p:spPr>
          <a:xfrm>
            <a:off x="953729" y="1548975"/>
            <a:ext cx="7423355" cy="49489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3122" y="370332"/>
            <a:ext cx="5937755" cy="1188720"/>
          </a:xfrm>
        </p:spPr>
        <p:txBody>
          <a:bodyPr/>
          <a:lstStyle/>
          <a:p>
            <a:r>
              <a:rPr sz="2800"/>
              <a:t>CONCLUSION</a:t>
            </a:r>
            <a:endParaRPr sz="2800"/>
          </a:p>
        </p:txBody>
      </p:sp>
      <p:sp>
        <p:nvSpPr>
          <p:cNvPr id="3" name="Content Placeholder 2"/>
          <p:cNvSpPr>
            <a:spLocks noGrp="1"/>
          </p:cNvSpPr>
          <p:nvPr>
            <p:ph idx="1"/>
          </p:nvPr>
        </p:nvSpPr>
        <p:spPr>
          <a:xfrm>
            <a:off x="899160" y="2169160"/>
            <a:ext cx="7084634" cy="3051175"/>
          </a:xfrm>
        </p:spPr>
        <p:txBody>
          <a:bodyPr/>
          <a:lstStyle/>
          <a:p>
            <a:r>
              <a:rPr sz="2400" dirty="0"/>
              <a:t>IoT-based occupancy monitoring systems help improve energy efficiency in smart buildings by automatically controlling lighting and HVAC systems based on real-time occupancy data. The proposed system reduces energy waste, lowers operational costs, and contributes to sustainable and intelligent building management.</a:t>
            </a:r>
            <a:endParaRPr sz="2400" dirty="0"/>
          </a:p>
        </p:txBody>
      </p:sp>
      <p:sp>
        <p:nvSpPr>
          <p:cNvPr id="4" name="Text Box 3"/>
          <p:cNvSpPr txBox="1"/>
          <p:nvPr/>
        </p:nvSpPr>
        <p:spPr>
          <a:xfrm>
            <a:off x="6594475" y="747395"/>
            <a:ext cx="3048000" cy="368300"/>
          </a:xfrm>
          <a:prstGeom prst="rect">
            <a:avLst/>
          </a:prstGeom>
          <a:noFill/>
        </p:spPr>
        <p:txBody>
          <a:bodyPr wrap="square" rtlCol="0">
            <a:spAutoFit/>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860" y="2445068"/>
            <a:ext cx="8229600" cy="1143000"/>
          </a:xfrm>
        </p:spPr>
        <p:txBody>
          <a:bodyPr/>
          <a:lstStyle/>
          <a:p>
            <a:r>
              <a:t>THANK YOU</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0</TotalTime>
  <Words>3308</Words>
  <Application>WPS Presentation</Application>
  <PresentationFormat>On-screen Show (4:3)</PresentationFormat>
  <Paragraphs>101</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Arial</vt:lpstr>
      <vt:lpstr>SimSun</vt:lpstr>
      <vt:lpstr>Wingdings</vt:lpstr>
      <vt:lpstr>Gill Sans MT</vt:lpstr>
      <vt:lpstr>Microsoft YaHei</vt:lpstr>
      <vt:lpstr>Arial Unicode MS</vt:lpstr>
      <vt:lpstr>Calibri</vt:lpstr>
      <vt:lpstr>Parcel</vt:lpstr>
      <vt:lpstr>REAL-TIME RESEARCH PROJECT</vt:lpstr>
      <vt:lpstr>Title :</vt:lpstr>
      <vt:lpstr>INTRODUCTION</vt:lpstr>
      <vt:lpstr>EXISTING SYSTEM</vt:lpstr>
      <vt:lpstr>PROBLEMS IN EXISTING SYSTEM</vt:lpstr>
      <vt:lpstr>PROPOSED SYSTEM</vt:lpstr>
      <vt:lpstr>ADVANTAGES</vt:lpstr>
      <vt:lpstr>SYSTEM REQUIREMENTS</vt:lpstr>
      <vt:lpstr>NOVELTY OF THE PROJECT</vt:lpstr>
      <vt:lpstr>SYSTEM ARCHITECTURE</vt:lpstr>
      <vt:lpstr>PowerPoint 演示文稿</vt:lpstr>
      <vt:lpstr>MODULES</vt:lpstr>
      <vt:lpstr>UML DIAGRAM</vt:lpstr>
      <vt:lpstr>UML DIAGRAM</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SAIKUMAR</dc:creator>
  <dc:description>generated using python-pptx</dc:description>
  <cp:lastModifiedBy>Pallapi Krantesh</cp:lastModifiedBy>
  <cp:revision>10</cp:revision>
  <dcterms:created xsi:type="dcterms:W3CDTF">2013-01-27T09:14:00Z</dcterms:created>
  <dcterms:modified xsi:type="dcterms:W3CDTF">2026-03-23T07:48:15Z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5E3867C568194EE4BC0CBBDDEC378716_13</vt:lpwstr>
  </property>
  <property fmtid="{D5CDD505-2E9C-101B-9397-08002B2CF9AE}" pid="3" name="KSOProductBuildVer">
    <vt:lpwstr>1033-12.1.0.25830</vt:lpwstr>
  </property>
</Properties>
</file>