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1" r:id="rId11"/>
    <p:sldId id="265" r:id="rId12"/>
    <p:sldId id="266" r:id="rId13"/>
    <p:sldId id="272" r:id="rId14"/>
    <p:sldId id="273" r:id="rId15"/>
    <p:sldId id="267" r:id="rId16"/>
    <p:sldId id="268" r:id="rId17"/>
    <p:sldId id="269" r:id="rId18"/>
    <p:sldId id="275" r:id="rId19"/>
    <p:sldId id="274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938995-278C-4849-8532-82EBD18F85A8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843FC2-D6BB-4647-91D0-06840D65C9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2942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43FC2-D6BB-4647-91D0-06840D65C92C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39679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43FC2-D6BB-4647-91D0-06840D65C92C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633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007534" y="0"/>
            <a:ext cx="5898825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6906359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58856" y="3428999"/>
            <a:ext cx="4138550" cy="2268559"/>
          </a:xfrm>
        </p:spPr>
        <p:txBody>
          <a:bodyPr anchor="t">
            <a:normAutofit/>
          </a:bodyPr>
          <a:lstStyle>
            <a:lvl1pPr algn="r"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31292" y="2268787"/>
            <a:ext cx="3966114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600" b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1641440" y="3262168"/>
            <a:ext cx="3117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2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2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7771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5373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7405" y="3199028"/>
            <a:ext cx="5967420" cy="1372971"/>
          </a:xfrm>
        </p:spPr>
        <p:txBody>
          <a:bodyPr anchor="t">
            <a:normAutofit/>
          </a:bodyPr>
          <a:lstStyle>
            <a:lvl1pPr algn="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21131" y="2272143"/>
            <a:ext cx="5803294" cy="926885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1644924" y="3023993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6030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1426" y="805818"/>
            <a:ext cx="5882780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65406" y="2056800"/>
            <a:ext cx="2855547" cy="3993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4679" y="2056800"/>
            <a:ext cx="2859527" cy="3993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" name="TextBox 18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4814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4" name="TextBox 23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3589" y="805818"/>
            <a:ext cx="5880617" cy="10770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63589" y="2054563"/>
            <a:ext cx="2857364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0" cap="none" baseline="0">
                <a:solidFill>
                  <a:schemeClr val="accent6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62510" y="2851330"/>
            <a:ext cx="2858443" cy="3198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84679" y="2054563"/>
            <a:ext cx="285952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0" cap="none" baseline="0">
                <a:solidFill>
                  <a:schemeClr val="accent6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84680" y="2851330"/>
            <a:ext cx="2859526" cy="3198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662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TextBox 15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82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784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2" name="TextBox 21"/>
          <p:cNvSpPr txBox="1"/>
          <p:nvPr/>
        </p:nvSpPr>
        <p:spPr>
          <a:xfrm>
            <a:off x="1179466" y="1127642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983" y="1296618"/>
            <a:ext cx="2120703" cy="1889075"/>
          </a:xfrm>
        </p:spPr>
        <p:txBody>
          <a:bodyPr anchor="b">
            <a:normAutofit/>
          </a:bodyPr>
          <a:lstStyle>
            <a:lvl1pPr algn="l"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8538" y="805818"/>
            <a:ext cx="375566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5982" y="3186155"/>
            <a:ext cx="2120703" cy="2386397"/>
          </a:xfrm>
        </p:spPr>
        <p:txBody>
          <a:bodyPr>
            <a:normAutofit/>
          </a:bodyPr>
          <a:lstStyle>
            <a:lvl1pPr marL="0" indent="0" algn="l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456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TextBox 12"/>
          <p:cNvSpPr txBox="1"/>
          <p:nvPr/>
        </p:nvSpPr>
        <p:spPr>
          <a:xfrm>
            <a:off x="1179466" y="1127642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82987" y="3229"/>
            <a:ext cx="3727769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1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6671" y="1296618"/>
            <a:ext cx="2603212" cy="1886308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5984" y="3182928"/>
            <a:ext cx="2603794" cy="2386394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869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TextBox 16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8857" y="808057"/>
            <a:ext cx="5885350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20792" y="2049878"/>
            <a:ext cx="5723414" cy="400006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711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TextBox 22"/>
          <p:cNvSpPr txBox="1"/>
          <p:nvPr/>
        </p:nvSpPr>
        <p:spPr>
          <a:xfrm rot="5400000">
            <a:off x="7688343" y="480678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9317" y="805818"/>
            <a:ext cx="99488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64598" y="970410"/>
            <a:ext cx="4715441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935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060" y="2912532"/>
            <a:ext cx="7772939" cy="394546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998"/>
          <a:stretch/>
        </p:blipFill>
        <p:spPr>
          <a:xfrm>
            <a:off x="1" y="0"/>
            <a:ext cx="9143999" cy="6858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61317" y="808057"/>
            <a:ext cx="587801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26236" y="2049878"/>
            <a:ext cx="5713092" cy="40000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28294" y="5272451"/>
            <a:ext cx="2662729" cy="179188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58177" y="3658900"/>
            <a:ext cx="5885352" cy="183663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2136" y="164594"/>
            <a:ext cx="638312" cy="322850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9927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r" defTabSz="685800" rtl="0" eaLnBrk="1" latinLnBrk="0" hangingPunct="1">
        <a:lnSpc>
          <a:spcPct val="90000"/>
        </a:lnSpc>
        <a:spcBef>
          <a:spcPct val="0"/>
        </a:spcBef>
        <a:buNone/>
        <a:defRPr sz="28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58366" indent="-258366" algn="l" defTabSz="685800" rtl="0" eaLnBrk="1" latinLnBrk="0" hangingPunct="1">
        <a:lnSpc>
          <a:spcPct val="120000"/>
        </a:lnSpc>
        <a:spcBef>
          <a:spcPts val="750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96504" indent="-253604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944166" indent="-258366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82304" indent="-253604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629966" indent="-258366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975104" indent="-256032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1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40280" indent="-256032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1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670048" indent="-256032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1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017520" indent="-256032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1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8808" y="1904283"/>
            <a:ext cx="5188974" cy="1251872"/>
          </a:xfrm>
        </p:spPr>
        <p:txBody>
          <a:bodyPr>
            <a:normAutofit/>
          </a:bodyPr>
          <a:lstStyle/>
          <a:p>
            <a:r>
              <a:rPr sz="2400" dirty="0">
                <a:latin typeface="Book Antiqua" panose="02040602050305030304" pitchFamily="18" charset="0"/>
              </a:rPr>
              <a:t>IoT Based Occupancy Monitoring Techniques for Energy Efficient Smart Buildings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08556" y="1100598"/>
            <a:ext cx="3269226" cy="411724"/>
          </a:xfrm>
        </p:spPr>
        <p:txBody>
          <a:bodyPr>
            <a:normAutofit/>
          </a:bodyPr>
          <a:lstStyle/>
          <a:p>
            <a:r>
              <a:rPr b="1" dirty="0">
                <a:solidFill>
                  <a:schemeClr val="tx1"/>
                </a:solidFill>
              </a:rPr>
              <a:t>RTRP Review – II Presentation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970B25-D513-34A7-25CE-35E6A79A1BEC}"/>
              </a:ext>
            </a:extLst>
          </p:cNvPr>
          <p:cNvSpPr txBox="1"/>
          <p:nvPr/>
        </p:nvSpPr>
        <p:spPr>
          <a:xfrm>
            <a:off x="5142273" y="5018738"/>
            <a:ext cx="15928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Baskerville Old Face" panose="02020602080505020303" pitchFamily="18" charset="0"/>
              </a:rPr>
              <a:t>Presented by:</a:t>
            </a:r>
          </a:p>
          <a:p>
            <a:r>
              <a:rPr lang="en-IN" dirty="0">
                <a:latin typeface="Baskerville Old Face" panose="02020602080505020303" pitchFamily="18" charset="0"/>
              </a:rPr>
              <a:t>Batch-7</a:t>
            </a:r>
          </a:p>
          <a:p>
            <a:r>
              <a:rPr lang="en-IN" dirty="0" err="1">
                <a:latin typeface="Baskerville Old Face" panose="02020602080505020303" pitchFamily="18" charset="0"/>
              </a:rPr>
              <a:t>K.Santhoshi</a:t>
            </a:r>
            <a:endParaRPr lang="en-IN" dirty="0">
              <a:latin typeface="Baskerville Old Face" panose="02020602080505020303" pitchFamily="18" charset="0"/>
            </a:endParaRPr>
          </a:p>
          <a:p>
            <a:r>
              <a:rPr lang="en-IN" dirty="0" err="1">
                <a:latin typeface="Baskerville Old Face" panose="02020602080505020303" pitchFamily="18" charset="0"/>
              </a:rPr>
              <a:t>P.Kranthesh</a:t>
            </a:r>
            <a:endParaRPr lang="en-IN" dirty="0">
              <a:latin typeface="Baskerville Old Face" panose="02020602080505020303" pitchFamily="18" charset="0"/>
            </a:endParaRPr>
          </a:p>
          <a:p>
            <a:r>
              <a:rPr lang="en-IN" dirty="0" err="1">
                <a:latin typeface="Baskerville Old Face" panose="02020602080505020303" pitchFamily="18" charset="0"/>
              </a:rPr>
              <a:t>M.Anas</a:t>
            </a:r>
            <a:endParaRPr lang="en-IN" dirty="0">
              <a:latin typeface="Baskerville Old Face" panose="02020602080505020303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ABEC83-C388-B120-F59D-DD41D3DEFC13}"/>
              </a:ext>
            </a:extLst>
          </p:cNvPr>
          <p:cNvSpPr txBox="1"/>
          <p:nvPr/>
        </p:nvSpPr>
        <p:spPr>
          <a:xfrm>
            <a:off x="1759974" y="3883742"/>
            <a:ext cx="33134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Guide :</a:t>
            </a:r>
          </a:p>
          <a:p>
            <a:r>
              <a:rPr lang="en-IN" dirty="0" err="1"/>
              <a:t>M.Madhusudhan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14890" y="1435509"/>
            <a:ext cx="5878011" cy="656949"/>
          </a:xfrm>
        </p:spPr>
        <p:txBody>
          <a:bodyPr>
            <a:normAutofit/>
          </a:bodyPr>
          <a:lstStyle/>
          <a:p>
            <a:pPr algn="ctr"/>
            <a:r>
              <a:rPr lang="en-IN" sz="2400" dirty="0">
                <a:latin typeface="Baskerville Old Face" panose="02020602080505020303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1380" y="2367763"/>
            <a:ext cx="7325032" cy="2497392"/>
          </a:xfrm>
        </p:spPr>
        <p:txBody>
          <a:bodyPr>
            <a:normAutofit fontScale="85000" lnSpcReduction="10000"/>
          </a:bodyPr>
          <a:lstStyle/>
          <a:p>
            <a:r>
              <a:rPr dirty="0"/>
              <a:t>Energy consumption in modern buildings is increasing due to lighting, HVAC,</a:t>
            </a:r>
            <a:r>
              <a:rPr lang="en-IN" dirty="0"/>
              <a:t>  and</a:t>
            </a:r>
            <a:r>
              <a:rPr dirty="0"/>
              <a:t> electronic devices.</a:t>
            </a:r>
          </a:p>
          <a:p>
            <a:r>
              <a:rPr dirty="0"/>
              <a:t>Traditional building systems work on manual control or fixed schedules.</a:t>
            </a:r>
          </a:p>
          <a:p>
            <a:r>
              <a:rPr dirty="0"/>
              <a:t>These systems waste energy when rooms are unoccupied.</a:t>
            </a:r>
          </a:p>
          <a:p>
            <a:r>
              <a:rPr dirty="0"/>
              <a:t>IoT technology helps monitor occupancy in real time using smart sensors.</a:t>
            </a:r>
          </a:p>
          <a:p>
            <a:r>
              <a:rPr dirty="0"/>
              <a:t>Sensor data helps automate lighting and ventilation systems.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2490" y="1299669"/>
            <a:ext cx="5878011" cy="715943"/>
          </a:xfrm>
        </p:spPr>
        <p:txBody>
          <a:bodyPr/>
          <a:lstStyle/>
          <a:p>
            <a:pPr algn="ctr"/>
            <a:r>
              <a:rPr lang="en-IN" dirty="0">
                <a:latin typeface="Baskerville Old Face" panose="02020602080505020303" pitchFamily="18" charset="0"/>
              </a:rPr>
              <a:t>PROJECT 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0040" y="2231923"/>
            <a:ext cx="6951406" cy="2477729"/>
          </a:xfrm>
        </p:spPr>
        <p:txBody>
          <a:bodyPr>
            <a:normAutofit fontScale="85000" lnSpcReduction="10000"/>
          </a:bodyPr>
          <a:lstStyle/>
          <a:p>
            <a:r>
              <a:rPr dirty="0"/>
              <a:t>The main aim of this project is to reduce energy wastage in buildings.</a:t>
            </a:r>
          </a:p>
          <a:p>
            <a:r>
              <a:rPr dirty="0"/>
              <a:t>The system monitors real-time occupancy using IoT sensors.</a:t>
            </a:r>
          </a:p>
          <a:p>
            <a:r>
              <a:rPr dirty="0"/>
              <a:t>Appliances such as lights and fans operate only when people are </a:t>
            </a:r>
            <a:r>
              <a:rPr dirty="0" err="1"/>
              <a:t>presen</a:t>
            </a:r>
            <a:r>
              <a:rPr lang="en-IN" dirty="0"/>
              <a:t>t.</a:t>
            </a:r>
            <a:endParaRPr dirty="0"/>
          </a:p>
          <a:p>
            <a:r>
              <a:rPr dirty="0"/>
              <a:t>The system also improves comfort and sustainability.</a:t>
            </a:r>
          </a:p>
          <a:p>
            <a:r>
              <a:rPr dirty="0"/>
              <a:t>This project supports smart building automation.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2994" y="1769806"/>
            <a:ext cx="5878011" cy="568459"/>
          </a:xfrm>
        </p:spPr>
        <p:txBody>
          <a:bodyPr/>
          <a:lstStyle/>
          <a:p>
            <a:pPr algn="ctr"/>
            <a:r>
              <a:rPr lang="en-IN" dirty="0">
                <a:latin typeface="Baskerville Old Face" panose="02020602080505020303" pitchFamily="18" charset="0"/>
              </a:rPr>
              <a:t>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9868" y="2143435"/>
            <a:ext cx="7129229" cy="2944760"/>
          </a:xfrm>
        </p:spPr>
        <p:txBody>
          <a:bodyPr>
            <a:normAutofit/>
          </a:bodyPr>
          <a:lstStyle/>
          <a:p>
            <a:r>
              <a:rPr lang="en-US" dirty="0"/>
              <a:t>Traditional energy management systems rely on manual switching or fixed schedules for lighting and HVAC. These systems do not consider real-time occupancy and often lead to energy wastage when rooms are empty. They also lack automation, scalability, and intelligent monitoring capabilities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963" y="1396181"/>
            <a:ext cx="6406537" cy="540774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>
                <a:latin typeface="Baskerville Old Face" panose="02020602080505020303" pitchFamily="18" charset="0"/>
              </a:rPr>
              <a:t>DISADVANTAGES OF 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8756" y="2190135"/>
            <a:ext cx="6506488" cy="2477729"/>
          </a:xfrm>
        </p:spPr>
        <p:txBody>
          <a:bodyPr>
            <a:normAutofit/>
          </a:bodyPr>
          <a:lstStyle/>
          <a:p>
            <a:r>
              <a:rPr dirty="0"/>
              <a:t>Manual control requires human intervention and monitoring.</a:t>
            </a:r>
          </a:p>
          <a:p>
            <a:r>
              <a:rPr dirty="0"/>
              <a:t>Basic sensors may fail to detect stationary occupants.</a:t>
            </a:r>
          </a:p>
          <a:p>
            <a:r>
              <a:rPr dirty="0"/>
              <a:t>No real-time data analysis or remote monitoring capability.</a:t>
            </a:r>
          </a:p>
          <a:p>
            <a:r>
              <a:rPr dirty="0"/>
              <a:t>Lack of intelligent automation for energy optimization.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3723" y="1376516"/>
            <a:ext cx="5878011" cy="568459"/>
          </a:xfrm>
        </p:spPr>
        <p:txBody>
          <a:bodyPr/>
          <a:lstStyle/>
          <a:p>
            <a:pPr algn="ctr"/>
            <a:r>
              <a:rPr lang="en-IN" dirty="0">
                <a:latin typeface="Baskerville Old Face" panose="02020602080505020303" pitchFamily="18" charset="0"/>
              </a:rPr>
              <a:t>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7641" y="2284041"/>
            <a:ext cx="6470177" cy="2895747"/>
          </a:xfrm>
        </p:spPr>
        <p:txBody>
          <a:bodyPr>
            <a:normAutofit fontScale="85000" lnSpcReduction="10000"/>
          </a:bodyPr>
          <a:lstStyle/>
          <a:p>
            <a:r>
              <a:rPr dirty="0"/>
              <a:t>The proposed system uses IoT technology for smart occupancy monitoring.</a:t>
            </a:r>
          </a:p>
          <a:p>
            <a:r>
              <a:rPr dirty="0"/>
              <a:t>Sensors such as PIR and CO2 sensors detect human presence.</a:t>
            </a:r>
          </a:p>
          <a:p>
            <a:r>
              <a:rPr dirty="0"/>
              <a:t>ESP32 microcontroller processes the sensor data.</a:t>
            </a:r>
          </a:p>
          <a:p>
            <a:r>
              <a:rPr dirty="0"/>
              <a:t>Data is transmitted to cloud servers using MQTT protocol.</a:t>
            </a:r>
          </a:p>
          <a:p>
            <a:r>
              <a:rPr dirty="0"/>
              <a:t>The system automatically controls lighting and ventilation.</a:t>
            </a:r>
          </a:p>
          <a:p>
            <a:r>
              <a:rPr dirty="0"/>
              <a:t>This approach reduces energy consumption significantly.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0913" y="1356851"/>
            <a:ext cx="6002173" cy="455388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>
                <a:latin typeface="Baskerville Old Face" panose="02020602080505020303" pitchFamily="18" charset="0"/>
              </a:rPr>
              <a:t>ADVANTAGES OF 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5234" y="1992511"/>
            <a:ext cx="6349170" cy="2872978"/>
          </a:xfrm>
        </p:spPr>
        <p:txBody>
          <a:bodyPr>
            <a:normAutofit/>
          </a:bodyPr>
          <a:lstStyle/>
          <a:p>
            <a:r>
              <a:rPr dirty="0"/>
              <a:t>Reduces energy consumption by controlling appliances automatically.</a:t>
            </a:r>
          </a:p>
          <a:p>
            <a:r>
              <a:rPr dirty="0"/>
              <a:t>Provides real-time occupancy monitoring.</a:t>
            </a:r>
          </a:p>
          <a:p>
            <a:r>
              <a:rPr dirty="0"/>
              <a:t>Supports remote monitoring through IoT dashboards.</a:t>
            </a:r>
          </a:p>
          <a:p>
            <a:r>
              <a:rPr dirty="0"/>
              <a:t>Improves building automation and operational efficiency.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2657" y="660575"/>
            <a:ext cx="5878011" cy="617620"/>
          </a:xfrm>
        </p:spPr>
        <p:txBody>
          <a:bodyPr/>
          <a:lstStyle/>
          <a:p>
            <a:pPr algn="ctr"/>
            <a:r>
              <a:rPr lang="en-IN" dirty="0">
                <a:latin typeface="Baskerville Old Face" panose="02020602080505020303" pitchFamily="18" charset="0"/>
              </a:rPr>
              <a:t>HARDWARE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509" y="1751047"/>
            <a:ext cx="6492309" cy="3355905"/>
          </a:xfrm>
        </p:spPr>
        <p:txBody>
          <a:bodyPr/>
          <a:lstStyle/>
          <a:p>
            <a:r>
              <a:rPr dirty="0"/>
              <a:t>ESP32 microcontroller for processing and communication.</a:t>
            </a:r>
          </a:p>
          <a:p>
            <a:r>
              <a:rPr dirty="0"/>
              <a:t>PIR sensor to detect motion and human presence.</a:t>
            </a:r>
          </a:p>
          <a:p>
            <a:r>
              <a:rPr dirty="0"/>
              <a:t>CO2 or gas sensors for monitoring air quality.</a:t>
            </a:r>
          </a:p>
          <a:p>
            <a:r>
              <a:rPr dirty="0"/>
              <a:t>Relay module for controlling electrical appliances.</a:t>
            </a:r>
          </a:p>
          <a:p>
            <a:r>
              <a:rPr dirty="0"/>
              <a:t>16x2 LCD display for showing system status.</a:t>
            </a:r>
          </a:p>
          <a:p>
            <a:r>
              <a:rPr dirty="0"/>
              <a:t>DC fan and power supply used as prototype load.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2994" y="603392"/>
            <a:ext cx="5878011" cy="588124"/>
          </a:xfrm>
        </p:spPr>
        <p:txBody>
          <a:bodyPr/>
          <a:lstStyle/>
          <a:p>
            <a:pPr algn="ctr"/>
            <a:r>
              <a:rPr lang="en-IN" dirty="0">
                <a:latin typeface="Baskerville Old Face" panose="02020602080505020303" pitchFamily="18" charset="0"/>
              </a:rPr>
              <a:t>SOFTWARE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90820" y="1868055"/>
            <a:ext cx="6162357" cy="3121890"/>
          </a:xfrm>
        </p:spPr>
        <p:txBody>
          <a:bodyPr>
            <a:normAutofit/>
          </a:bodyPr>
          <a:lstStyle/>
          <a:p>
            <a:r>
              <a:rPr dirty="0"/>
              <a:t>Operating system: Windows or Linux.</a:t>
            </a:r>
          </a:p>
          <a:p>
            <a:r>
              <a:rPr dirty="0"/>
              <a:t>Programming language: Embedded C or Python.</a:t>
            </a:r>
          </a:p>
          <a:p>
            <a:r>
              <a:rPr dirty="0"/>
              <a:t>Arduino IDE used for programming ESP32.</a:t>
            </a:r>
          </a:p>
          <a:p>
            <a:r>
              <a:rPr dirty="0"/>
              <a:t>Cloud database such as Firebase or MySQL.</a:t>
            </a:r>
          </a:p>
          <a:p>
            <a:r>
              <a:rPr dirty="0"/>
              <a:t>MQTT protocol for IoT communication.</a:t>
            </a:r>
          </a:p>
          <a:p>
            <a:r>
              <a:rPr dirty="0"/>
              <a:t>Web dashboard for monitoring occupancy data.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BAC8B-D919-8AE3-5322-6A55738F7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D732C-D88B-07A7-4A79-04BED7E42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2994" y="1191516"/>
            <a:ext cx="5878011" cy="588124"/>
          </a:xfrm>
        </p:spPr>
        <p:txBody>
          <a:bodyPr/>
          <a:lstStyle/>
          <a:p>
            <a:pPr algn="ctr"/>
            <a:r>
              <a:rPr lang="en-IN" dirty="0">
                <a:latin typeface="Baskerville Old Face" panose="02020602080505020303" pitchFamily="18" charset="0"/>
              </a:rPr>
              <a:t>NOVELTY OF THE PROJECT</a:t>
            </a:r>
            <a:endParaRPr dirty="0">
              <a:latin typeface="Baskerville Old Face" panose="020206020805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DE9C2-ED81-4AB4-DF65-F34ADC1E39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7978" y="2049878"/>
            <a:ext cx="6162357" cy="31218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• Integrates IoT sensors for accurate occupancy detection.</a:t>
            </a:r>
          </a:p>
          <a:p>
            <a:pPr marL="0" indent="0">
              <a:buNone/>
            </a:pPr>
            <a:r>
              <a:rPr lang="en-IN" dirty="0"/>
              <a:t>• Uses real-time data to control energy systems.</a:t>
            </a:r>
          </a:p>
          <a:p>
            <a:pPr marL="0" indent="0">
              <a:buNone/>
            </a:pPr>
            <a:r>
              <a:rPr lang="en-IN" dirty="0"/>
              <a:t>• Enables smart automation in buildings.</a:t>
            </a:r>
          </a:p>
          <a:p>
            <a:pPr marL="0" indent="0">
              <a:buNone/>
            </a:pPr>
            <a:r>
              <a:rPr lang="en-IN" dirty="0"/>
              <a:t>• Provides analytics for energy optimization.</a:t>
            </a:r>
          </a:p>
          <a:p>
            <a:pPr marL="0" indent="0">
              <a:buNone/>
            </a:pPr>
            <a:r>
              <a:rPr lang="en-IN" dirty="0"/>
              <a:t>• Reduces carbon footprint and operational costs.</a:t>
            </a:r>
          </a:p>
        </p:txBody>
      </p:sp>
    </p:spTree>
    <p:extLst>
      <p:ext uri="{BB962C8B-B14F-4D97-AF65-F5344CB8AC3E}">
        <p14:creationId xmlns:p14="http://schemas.microsoft.com/office/powerpoint/2010/main" val="40270399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2826" y="553325"/>
            <a:ext cx="5878011" cy="509466"/>
          </a:xfrm>
        </p:spPr>
        <p:txBody>
          <a:bodyPr/>
          <a:lstStyle/>
          <a:p>
            <a:pPr algn="ctr"/>
            <a:r>
              <a:rPr lang="en-IN" dirty="0">
                <a:latin typeface="Baskerville Old Face" panose="02020602080505020303" pitchFamily="18" charset="0"/>
              </a:rP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5800" y="1302627"/>
            <a:ext cx="5464267" cy="2364806"/>
          </a:xfrm>
        </p:spPr>
        <p:txBody>
          <a:bodyPr>
            <a:normAutofit fontScale="85000" lnSpcReduction="20000"/>
          </a:bodyPr>
          <a:lstStyle/>
          <a:p>
            <a:r>
              <a:rPr dirty="0"/>
              <a:t>Sensors collect occupancy and environmental data.</a:t>
            </a:r>
          </a:p>
          <a:p>
            <a:r>
              <a:rPr dirty="0"/>
              <a:t>Data is transmitted to ESP32 microcontroller.</a:t>
            </a:r>
          </a:p>
          <a:p>
            <a:r>
              <a:rPr dirty="0"/>
              <a:t>Edge computing processes sensor data locally.</a:t>
            </a:r>
          </a:p>
          <a:p>
            <a:r>
              <a:rPr dirty="0"/>
              <a:t>Processed data is sent to cloud server using </a:t>
            </a:r>
            <a:r>
              <a:rPr dirty="0" err="1"/>
              <a:t>WiFi</a:t>
            </a:r>
            <a:r>
              <a:rPr dirty="0"/>
              <a:t>.</a:t>
            </a:r>
          </a:p>
          <a:p>
            <a:r>
              <a:rPr dirty="0"/>
              <a:t>Machine learning analyzes occupancy patterns.</a:t>
            </a:r>
          </a:p>
          <a:p>
            <a:r>
              <a:rPr dirty="0"/>
              <a:t>Control signals are sent to appliances for automation.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9F46D04-848F-63EA-BFDA-5C7EA451DD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1794" y="3907269"/>
            <a:ext cx="4673523" cy="270173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2994" y="1297858"/>
            <a:ext cx="5878011" cy="489801"/>
          </a:xfrm>
        </p:spPr>
        <p:txBody>
          <a:bodyPr/>
          <a:lstStyle/>
          <a:p>
            <a:pPr algn="ctr"/>
            <a:r>
              <a:rPr lang="en-IN" dirty="0">
                <a:latin typeface="Baskerville Old Face" panose="02020602080505020303" pitchFamily="18" charset="0"/>
              </a:rPr>
              <a:t>MODULES OF THE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2840" y="2322078"/>
            <a:ext cx="6827934" cy="2748264"/>
          </a:xfrm>
        </p:spPr>
        <p:txBody>
          <a:bodyPr>
            <a:normAutofit fontScale="92500" lnSpcReduction="10000"/>
          </a:bodyPr>
          <a:lstStyle/>
          <a:p>
            <a:r>
              <a:t>Hardware Setup Module integrates sensors and microcontroller.</a:t>
            </a:r>
          </a:p>
          <a:p>
            <a:r>
              <a:t>Occupancy Detection Module identifies human presence.</a:t>
            </a:r>
          </a:p>
          <a:p>
            <a:r>
              <a:t>Processing and Control Module controls appliances.</a:t>
            </a:r>
          </a:p>
          <a:p>
            <a:r>
              <a:t>Display Module shows occupancy status on LCD.</a:t>
            </a:r>
          </a:p>
          <a:p>
            <a:r>
              <a:t>IoT Monitoring Module sends data to the cloud.</a:t>
            </a:r>
          </a:p>
          <a:p>
            <a:r>
              <a:t>Energy Efficiency Module ensures energy savings.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C6EBF-46D9-F5A4-D47D-AFC341DEF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A30AE-A7C9-7301-DC09-A53FC2D21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1653" y="589936"/>
            <a:ext cx="5878011" cy="489801"/>
          </a:xfrm>
        </p:spPr>
        <p:txBody>
          <a:bodyPr/>
          <a:lstStyle/>
          <a:p>
            <a:pPr algn="ctr"/>
            <a:r>
              <a:rPr lang="en-IN" dirty="0">
                <a:latin typeface="Baskerville Old Face" panose="02020602080505020303" pitchFamily="18" charset="0"/>
              </a:rPr>
              <a:t>UML DIAGRAMS</a:t>
            </a:r>
            <a:endParaRPr dirty="0">
              <a:latin typeface="Baskerville Old Face" panose="02020602080505020303" pitchFamily="18" charset="0"/>
            </a:endParaRP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8C98F8B2-5005-D5BF-5C08-EFE0B23107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1883" y="1352330"/>
            <a:ext cx="7187381" cy="4791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8427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1678A-E244-0A25-7FAF-0A3B10D8E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8F1DC-D489-DE4F-74F3-F9CF4E931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336" y="481781"/>
            <a:ext cx="5878011" cy="489801"/>
          </a:xfrm>
        </p:spPr>
        <p:txBody>
          <a:bodyPr/>
          <a:lstStyle/>
          <a:p>
            <a:pPr algn="ctr"/>
            <a:r>
              <a:rPr lang="en-IN" dirty="0">
                <a:latin typeface="Baskerville Old Face" panose="02020602080505020303" pitchFamily="18" charset="0"/>
              </a:rPr>
              <a:t>SOURCE CODE</a:t>
            </a:r>
            <a:endParaRPr dirty="0">
              <a:latin typeface="Baskerville Old Face" panose="02020602080505020303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C53AA8-504C-B298-8146-2E066DF9A1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510" y="1101213"/>
            <a:ext cx="6618337" cy="5466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2526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2994" y="1388161"/>
            <a:ext cx="5878011" cy="470137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>
                <a:latin typeface="Baskerville Old Face" panose="02020602080505020303" pitchFamily="18" charset="0"/>
              </a:rPr>
              <a:t>RESULTS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26BFEEB-0E15-93E8-0979-0C0A00CD66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92673" y="1630485"/>
            <a:ext cx="6625912" cy="4334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successfully detects human presence in a room using a PIR sensor. 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When occupancy is detected, the light and fan automatically turn ON, and they turn OFF when no person is present. 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displays the occupancy status on the LCD and sends the data to the IoT server through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WiFi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implementation helps reduce unnecessary energy consumption and improves efficiency in smart buildings.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2994" y="1132535"/>
            <a:ext cx="5878011" cy="648954"/>
          </a:xfrm>
        </p:spPr>
        <p:txBody>
          <a:bodyPr/>
          <a:lstStyle/>
          <a:p>
            <a:pPr algn="ctr"/>
            <a:r>
              <a:rPr lang="en-IN" dirty="0">
                <a:latin typeface="Baskerville Old Face" panose="02020602080505020303" pitchFamily="18" charset="0"/>
              </a:rPr>
              <a:t>CONCLUSION</a:t>
            </a:r>
            <a:endParaRPr dirty="0">
              <a:latin typeface="Baskerville Old Face" panose="020206020805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5802" y="1885286"/>
            <a:ext cx="7063991" cy="3255652"/>
          </a:xfrm>
        </p:spPr>
        <p:txBody>
          <a:bodyPr>
            <a:normAutofit/>
          </a:bodyPr>
          <a:lstStyle/>
          <a:p>
            <a:r>
              <a:rPr dirty="0"/>
              <a:t>The IoT-based occupancy monitoring system improves building energy efficiency.</a:t>
            </a:r>
          </a:p>
          <a:p>
            <a:r>
              <a:rPr dirty="0"/>
              <a:t>Sensors and microcontrollers enable automated energy control.</a:t>
            </a:r>
          </a:p>
          <a:p>
            <a:r>
              <a:rPr dirty="0"/>
              <a:t>Real-time monitoring reduces unnecessary power consumption.</a:t>
            </a:r>
          </a:p>
          <a:p>
            <a:r>
              <a:rPr dirty="0"/>
              <a:t>The system supports smart building management.</a:t>
            </a:r>
          </a:p>
          <a:p>
            <a:r>
              <a:rPr dirty="0"/>
              <a:t>Overall, the project demonstrates a practical IoT solution.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0108" y="1426866"/>
            <a:ext cx="5878011" cy="618809"/>
          </a:xfrm>
        </p:spPr>
        <p:txBody>
          <a:bodyPr/>
          <a:lstStyle/>
          <a:p>
            <a:pPr algn="ctr"/>
            <a:r>
              <a:rPr lang="en-IN" dirty="0">
                <a:latin typeface="Baskerville Old Face" panose="02020602080505020303" pitchFamily="18" charset="0"/>
              </a:rP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3141" y="1943550"/>
            <a:ext cx="6716314" cy="4000066"/>
          </a:xfrm>
        </p:spPr>
        <p:txBody>
          <a:bodyPr/>
          <a:lstStyle/>
          <a:p>
            <a:r>
              <a:rPr dirty="0"/>
              <a:t>Integration of Artificial Intelligence for predictive analysis.</a:t>
            </a:r>
          </a:p>
          <a:p>
            <a:r>
              <a:rPr dirty="0"/>
              <a:t>Deployment in large commercial buildings and smart cities.</a:t>
            </a:r>
          </a:p>
          <a:p>
            <a:r>
              <a:rPr dirty="0"/>
              <a:t>Improved multi-sensor fusion for higher accuracy.</a:t>
            </a:r>
          </a:p>
          <a:p>
            <a:r>
              <a:rPr dirty="0"/>
              <a:t>Integration with renewable energy systems.</a:t>
            </a:r>
          </a:p>
          <a:p>
            <a:r>
              <a:rPr dirty="0"/>
              <a:t>Development of a mobile application for monitoring.</a:t>
            </a:r>
          </a:p>
          <a:p>
            <a:r>
              <a:rPr dirty="0"/>
              <a:t>Enhanced security and cloud-based analytics.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1DA51-A08F-A5ED-005F-0B1B700C4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ABFAE-0833-DF61-B02F-81123BF20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2994" y="625060"/>
            <a:ext cx="5878011" cy="618809"/>
          </a:xfrm>
        </p:spPr>
        <p:txBody>
          <a:bodyPr/>
          <a:lstStyle/>
          <a:p>
            <a:pPr algn="ctr"/>
            <a:r>
              <a:rPr lang="en-IN" dirty="0">
                <a:latin typeface="Baskerville Old Face" panose="02020602080505020303" pitchFamily="18" charset="0"/>
              </a:rPr>
              <a:t>REFERENCES:</a:t>
            </a:r>
            <a:endParaRPr dirty="0">
              <a:latin typeface="Baskerville Old Face" panose="020206020805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59DAF-2C71-386F-2EB7-748C32390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2513" y="1647138"/>
            <a:ext cx="6716314" cy="4000066"/>
          </a:xfrm>
        </p:spPr>
        <p:txBody>
          <a:bodyPr>
            <a:normAutofit fontScale="85000" lnSpcReduction="20000"/>
          </a:bodyPr>
          <a:lstStyle/>
          <a:p>
            <a:pPr lvl="0"/>
            <a:r>
              <a:rPr lang="en-IN" dirty="0"/>
              <a:t>Kemal Akkaya, Ismail </a:t>
            </a:r>
            <a:r>
              <a:rPr lang="en-IN" dirty="0" err="1"/>
              <a:t>Guvenc</a:t>
            </a:r>
            <a:r>
              <a:rPr lang="en-IN" dirty="0"/>
              <a:t>, Ramazan Aygun, Nezih Pala &amp; Abdullah Kadri.</a:t>
            </a:r>
            <a:r>
              <a:rPr lang="en-IN" b="1" dirty="0"/>
              <a:t> </a:t>
            </a:r>
            <a:r>
              <a:rPr lang="en-IN" dirty="0"/>
              <a:t>IoT-based Occupancy Monitoring Techniques for Energy-Efficient Smart Buildings</a:t>
            </a:r>
            <a:r>
              <a:rPr lang="en-IN" i="1" dirty="0"/>
              <a:t>. </a:t>
            </a:r>
            <a:r>
              <a:rPr lang="en-IN" dirty="0"/>
              <a:t>IEEE Wireless Communications and Networking Conference Workshops (WCNCW), 2015.</a:t>
            </a:r>
          </a:p>
          <a:p>
            <a:pPr lvl="0"/>
            <a:r>
              <a:rPr lang="en-IN" dirty="0"/>
              <a:t>Mohammad </a:t>
            </a:r>
            <a:r>
              <a:rPr lang="en-IN" dirty="0" err="1"/>
              <a:t>Jabirullah</a:t>
            </a:r>
            <a:r>
              <a:rPr lang="en-IN" dirty="0"/>
              <a:t> Almas Khan, Mohd Zohaib Ali, Syed Sirajuddin Wajih &amp; Mohd Azhar Hussain. IoT-Based Occupancy Monitoring Techniques for Energy Efficient Smart Buildings.</a:t>
            </a:r>
            <a:r>
              <a:rPr lang="en-IN" i="1" dirty="0"/>
              <a:t> </a:t>
            </a:r>
            <a:r>
              <a:rPr lang="en-IN" dirty="0"/>
              <a:t>Turkish Online Journal of Qualitative Inquiry (TOJQI), Vol. 12, No. 3, 2021.</a:t>
            </a:r>
          </a:p>
          <a:p>
            <a:pPr lvl="0"/>
            <a:r>
              <a:rPr lang="en-IN" dirty="0"/>
              <a:t>P. F. </a:t>
            </a:r>
            <a:r>
              <a:rPr lang="en-IN" dirty="0" err="1"/>
              <a:t>Karjou</a:t>
            </a:r>
            <a:r>
              <a:rPr lang="en-IN" dirty="0"/>
              <a:t>, et al.</a:t>
            </a:r>
            <a:r>
              <a:rPr lang="en-IN" b="1" dirty="0"/>
              <a:t> </a:t>
            </a:r>
            <a:r>
              <a:rPr lang="en-IN" dirty="0"/>
              <a:t>Practical Design and Implementation of IoT-Based Occupancy Monitoring Systems for Office Buildings: A Case Study</a:t>
            </a:r>
            <a:r>
              <a:rPr lang="en-IN" i="1" dirty="0"/>
              <a:t>. </a:t>
            </a:r>
            <a:r>
              <a:rPr lang="en-IN" dirty="0"/>
              <a:t>Energy and Buildings, 2024.</a:t>
            </a:r>
          </a:p>
          <a:p>
            <a:r>
              <a:rPr lang="en-IN" dirty="0"/>
              <a:t>Pratiksha Chaudhari, Yang Xiao, Mark Ming-Cheng Cheng &amp; </a:t>
            </a:r>
            <a:r>
              <a:rPr lang="en-IN" dirty="0" err="1"/>
              <a:t>Tieshan</a:t>
            </a:r>
            <a:r>
              <a:rPr lang="en-IN" dirty="0"/>
              <a:t> Li. Fundamentals, Algorithms, and Technologies of Occupancy Detection for Smart Buildings Using IoT Sensors.</a:t>
            </a:r>
            <a:r>
              <a:rPr lang="en-IN" i="1" dirty="0"/>
              <a:t> </a:t>
            </a:r>
            <a:r>
              <a:rPr lang="en-IN" dirty="0"/>
              <a:t>Sensors, 2024</a:t>
            </a:r>
            <a:endParaRPr sz="1050" dirty="0"/>
          </a:p>
        </p:txBody>
      </p:sp>
    </p:spTree>
    <p:extLst>
      <p:ext uri="{BB962C8B-B14F-4D97-AF65-F5344CB8AC3E}">
        <p14:creationId xmlns:p14="http://schemas.microsoft.com/office/powerpoint/2010/main" val="18760442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65272-AB86-E67C-7F4B-4EA7178A0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BF765-87B3-BDBC-FE55-C1F97A896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2994" y="1987063"/>
            <a:ext cx="5878011" cy="618809"/>
          </a:xfrm>
        </p:spPr>
        <p:txBody>
          <a:bodyPr/>
          <a:lstStyle/>
          <a:p>
            <a:pPr algn="ctr"/>
            <a:r>
              <a:rPr lang="en-IN" dirty="0">
                <a:latin typeface="Baskerville Old Face" panose="02020602080505020303" pitchFamily="18" charset="0"/>
              </a:rPr>
              <a:t>GIT HUB LINK:</a:t>
            </a:r>
            <a:endParaRPr dirty="0">
              <a:latin typeface="Baskerville Old Face" panose="020206020805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8CE02-DE71-6619-117A-4F81FBCBD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2513" y="2650029"/>
            <a:ext cx="6716314" cy="2197275"/>
          </a:xfrm>
        </p:spPr>
        <p:txBody>
          <a:bodyPr>
            <a:normAutofit/>
          </a:bodyPr>
          <a:lstStyle/>
          <a:p>
            <a:r>
              <a:rPr lang="en-IN" b="1" u="sng" dirty="0"/>
              <a:t>https://github.com/santhoshikammari/iot-occupancy-monitoring.git </a:t>
            </a:r>
            <a:endParaRPr lang="en-IN" dirty="0"/>
          </a:p>
          <a:p>
            <a:pPr lvl="0"/>
            <a:endParaRPr sz="1050" dirty="0"/>
          </a:p>
        </p:txBody>
      </p:sp>
    </p:spTree>
    <p:extLst>
      <p:ext uri="{BB962C8B-B14F-4D97-AF65-F5344CB8AC3E}">
        <p14:creationId xmlns:p14="http://schemas.microsoft.com/office/powerpoint/2010/main" val="34697564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13833" y="2568031"/>
            <a:ext cx="5878011" cy="715943"/>
          </a:xfrm>
        </p:spPr>
        <p:txBody>
          <a:bodyPr>
            <a:normAutofit/>
          </a:bodyPr>
          <a:lstStyle/>
          <a:p>
            <a:pPr algn="ctr"/>
            <a:r>
              <a:rPr lang="en-IN" dirty="0"/>
              <a:t>THANK YOU!!!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60</TotalTime>
  <Words>889</Words>
  <Application>Microsoft Office PowerPoint</Application>
  <PresentationFormat>On-screen Show (4:3)</PresentationFormat>
  <Paragraphs>105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Aptos</vt:lpstr>
      <vt:lpstr>Arial</vt:lpstr>
      <vt:lpstr>Baskerville Old Face</vt:lpstr>
      <vt:lpstr>Book Antiqua</vt:lpstr>
      <vt:lpstr>MS Shell Dlg 2</vt:lpstr>
      <vt:lpstr>Wingdings</vt:lpstr>
      <vt:lpstr>Wingdings 3</vt:lpstr>
      <vt:lpstr>Madison</vt:lpstr>
      <vt:lpstr>IoT Based Occupancy Monitoring Techniques for Energy Efficient Smart Buildings</vt:lpstr>
      <vt:lpstr>INTRODUCTION</vt:lpstr>
      <vt:lpstr>PROJECT PURPOSE</vt:lpstr>
      <vt:lpstr>EXISTING SYSTEM</vt:lpstr>
      <vt:lpstr>DISADVANTAGES OF EXISTING SYSTEM</vt:lpstr>
      <vt:lpstr>PROPOSED SYSTEM</vt:lpstr>
      <vt:lpstr>ADVANTAGES OF PROPOSED SYSTEM</vt:lpstr>
      <vt:lpstr>HARDWARE REQUIREMENTS</vt:lpstr>
      <vt:lpstr>SOFTWARE REQUIREMENTS</vt:lpstr>
      <vt:lpstr>NOVELTY OF THE PROJECT</vt:lpstr>
      <vt:lpstr>SYSTEM ARCHITECTURE</vt:lpstr>
      <vt:lpstr>MODULES OF THE SYSTEM</vt:lpstr>
      <vt:lpstr>UML DIAGRAMS</vt:lpstr>
      <vt:lpstr>SOURCE CODE</vt:lpstr>
      <vt:lpstr>RESULTS</vt:lpstr>
      <vt:lpstr>CONCLUSION</vt:lpstr>
      <vt:lpstr>FUTURE ENHANCEMENTS</vt:lpstr>
      <vt:lpstr>REFERENCES:</vt:lpstr>
      <vt:lpstr>GIT HUB LINK:</vt:lpstr>
      <vt:lpstr>THANK YOU!!!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 SAIKUMAR</dc:creator>
  <cp:keywords/>
  <dc:description>generated using python-pptx</dc:description>
  <cp:lastModifiedBy>K SAIKUMAR</cp:lastModifiedBy>
  <cp:revision>3</cp:revision>
  <dcterms:created xsi:type="dcterms:W3CDTF">2013-01-27T09:14:16Z</dcterms:created>
  <dcterms:modified xsi:type="dcterms:W3CDTF">2026-03-27T17:48:54Z</dcterms:modified>
  <cp:category/>
</cp:coreProperties>
</file>